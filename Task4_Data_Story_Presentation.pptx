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A357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657600" cy="3657600"/>
          </a:xfrm>
          <a:prstGeom prst="ellipse">
            <a:avLst/>
          </a:prstGeom>
          <a:solidFill>
            <a:srgbClr val="2631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EXECUTIVE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 &amp;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statistical evidence, and recommended next steps for ApexPlanet's order-value optimization initiative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5532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(R²)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4892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5532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Drivers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— Data Storytelling &amp; Statistical Validation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findings shape ApexPlanet's order-value strategy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icon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Demographic Effect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shows no statistically significant difference by Gender or Product Category — segmentation by these variables won't drive AOV gains.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&gt; 0.49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430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t-test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17830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assets/icon_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905" y="230314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06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&amp; Quantity Drive Value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0060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and Quantity are the primary, highly significant drivers of order value across the dataset, both at p &lt; 0.001.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8006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8006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predictors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7830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assets/icon_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05" y="230314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Predictive Model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58200" y="36118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model explains roughly 83% of the variance in log(Total Sales), giving high confidence in price/quantity-based forecasting.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458200" y="5074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4582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(variance explained)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was built, cleaned, and validated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1488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assets/icon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Sales_Dataset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0312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customer orders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35661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standardized order date fields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missing Total_Sales values (980 retained for modeling)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4800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1188720" y="54132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used in the final regression model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APPLIED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224028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assets/icon_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090" y="254889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093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t-test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309360" y="3319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mean order value between Male and Female customer groups.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915400" y="224028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0982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assets/icon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010" y="254889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982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9098280" y="3319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mean order value differs across product categories.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126480" y="40233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0936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assets/icon_ta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90" y="433197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0936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309360" y="51023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association between Category and High-Quantity orders.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8915400" y="4023360"/>
            <a:ext cx="2606040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09828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assets/icon_chartb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010" y="4331970"/>
            <a:ext cx="251460" cy="2514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09828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OLS Regression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098280" y="51023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log(Total Sales) as a function of Quantity, Unit Price, and Age.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Statistical Findings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 show demographic and category effects are negligible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icon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Gender: T-test on Order Value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— Male: 141,807   |   Female: 136,883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 = 0.683,  p-value = 0.495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0.043  →  negligible effect size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97280" y="3520440"/>
            <a:ext cx="4800600" cy="274320"/>
          </a:xfrm>
          <a:prstGeom prst="roundRect">
            <a:avLst>
              <a:gd name="adj" fmla="val 16667"/>
            </a:avLst>
          </a:prstGeom>
          <a:solidFill>
            <a:srgbClr val="E3F4E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5204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— p &gt; 0.05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assets/icon_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488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Category: ANOVA on Order Value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29400" y="2606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mean order value differs across the 5 product categories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Eta-squared (η²) = 0.0029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29400" y="3520440"/>
            <a:ext cx="4480560" cy="274320"/>
          </a:xfrm>
          <a:prstGeom prst="roundRect">
            <a:avLst>
              <a:gd name="adj" fmla="val 16667"/>
            </a:avLst>
          </a:prstGeom>
          <a:solidFill>
            <a:srgbClr val="E3F4EE"/>
          </a:solidFill>
          <a:ln/>
        </p:spPr>
      </p:sp>
      <p:sp>
        <p:nvSpPr>
          <p:cNvPr id="17" name="Text 13"/>
          <p:cNvSpPr/>
          <p:nvPr/>
        </p:nvSpPr>
        <p:spPr>
          <a:xfrm>
            <a:off x="6629400" y="3520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effect — category explains &lt;1% of variance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" y="4069080"/>
            <a:ext cx="105613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43000" y="43434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2" descr="assets/icon_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18" y="4487418"/>
            <a:ext cx="352044" cy="3520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Chi-Square: Category vs. High-Quantity Orders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965960" y="4709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product category is associated with whether an order has high quantity.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223760" y="4389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4.702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7223760" y="4892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(χ²)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458200" y="4389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0.319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8458200" y="4892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692640" y="4389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0.069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9692640" y="48920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V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10835640" y="443484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/>
        </p:spPr>
      </p:sp>
      <p:sp>
        <p:nvSpPr>
          <p:cNvPr id="30" name="Text 25"/>
          <p:cNvSpPr/>
          <p:nvPr/>
        </p:nvSpPr>
        <p:spPr>
          <a:xfrm>
            <a:off x="10835640" y="4434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found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Regression: Drivers of Order Value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model predicting log(Total Sales) from Quantity, Unit Price, and Age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108960" cy="40233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031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assets/icon_chartb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32004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0.829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43000" y="3886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 = 0.828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4434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= 1575,  p &lt; 0.001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 observations, 3 predictors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51206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~83% of variance in log(Total Sales) — a strong fit for pricing-driven forecasting.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783080"/>
          <a:ext cx="7132320" cy="2286000"/>
        </p:xfrm>
        <a:graphic>
          <a:graphicData uri="http://schemas.openxmlformats.org/drawingml/2006/table">
            <a:tbl>
              <a:tblPr/>
              <a:tblGrid>
                <a:gridCol w="1691640"/>
                <a:gridCol w="1463040"/>
                <a:gridCol w="1280160"/>
                <a:gridCol w="128016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5.76e-05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251960" y="4343400"/>
            <a:ext cx="3456432" cy="1463040"/>
          </a:xfrm>
          <a:prstGeom prst="roundRect">
            <a:avLst>
              <a:gd name="adj" fmla="val 4375"/>
            </a:avLst>
          </a:prstGeom>
          <a:solidFill>
            <a:srgbClr val="E3F4EE"/>
          </a:solidFill>
          <a:ln/>
        </p:spPr>
      </p:sp>
      <p:sp>
        <p:nvSpPr>
          <p:cNvPr id="14" name="Shape 10"/>
          <p:cNvSpPr/>
          <p:nvPr/>
        </p:nvSpPr>
        <p:spPr>
          <a:xfrm>
            <a:off x="4480560" y="4526280"/>
            <a:ext cx="457200" cy="457200"/>
          </a:xfrm>
          <a:prstGeom prst="ellipse">
            <a:avLst/>
          </a:prstGeom>
          <a:solidFill>
            <a:srgbClr val="1F8A6E"/>
          </a:solidFill>
          <a:ln/>
        </p:spPr>
      </p:sp>
      <p:pic>
        <p:nvPicPr>
          <p:cNvPr id="15" name="Image 1" descr="assets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46405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44805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&amp; Unit Price are highly significant predictors of order value (p &lt; 0.001 for both).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863840" y="4343400"/>
            <a:ext cx="3520440" cy="1463040"/>
          </a:xfrm>
          <a:prstGeom prst="roundRect">
            <a:avLst>
              <a:gd name="adj" fmla="val 4375"/>
            </a:avLst>
          </a:prstGeom>
          <a:solidFill>
            <a:srgbClr val="FBE9E8"/>
          </a:solidFill>
          <a:ln/>
        </p:spPr>
      </p:sp>
      <p:sp>
        <p:nvSpPr>
          <p:cNvPr id="18" name="Shape 13"/>
          <p:cNvSpPr/>
          <p:nvPr/>
        </p:nvSpPr>
        <p:spPr>
          <a:xfrm>
            <a:off x="8092440" y="45262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2" descr="assets/icon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6405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0" y="44805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2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not a significant predictor of order value once price and quantity are accounted for.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Total Sales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values are right-skewed, with most orders concentrated at lower totals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315200" cy="4617720"/>
          </a:xfrm>
          <a:prstGeom prst="roundRect">
            <a:avLst>
              <a:gd name="adj" fmla="val 158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assets/d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2057400"/>
            <a:ext cx="68580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5820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assets/icon_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930" y="24117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right skew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098280" y="2578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fall under 150,000 in total sales, with a long tail of high-value transactions.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45820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assets/icon_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38290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 large outliers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098280" y="3995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orders exceed 400,000 — these merit closer profiling for retention.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45820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assets/icon_proje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52463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8280" y="5102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implication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098280" y="541324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motivates the log transform used in the regression on slide 5.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by Category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Order-value spread is broadly similar across all five product categories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315200" cy="4617720"/>
          </a:xfrm>
          <a:prstGeom prst="roundRect">
            <a:avLst>
              <a:gd name="adj" fmla="val 158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assets/c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2057400"/>
            <a:ext cx="68580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5820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assets/icon_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930" y="24117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Overlapping ranges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098280" y="2578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order values and interquartile ranges overlap heavily across categories.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45820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assets/icon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38290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Confirms ANOVA result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098280" y="3995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consistent with the negligible category effect (η² = 0.0029) found on slide 4.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45820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assets/icon_c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52463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8280" y="5102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takeaway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098280" y="541324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pricing differentiation alone is unlikely to move overall AOV.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vs. Unit Price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positive relationship — higher unit prices drive higher total order value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315200" cy="4617720"/>
          </a:xfrm>
          <a:prstGeom prst="roundRect">
            <a:avLst>
              <a:gd name="adj" fmla="val 158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assets/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2057400"/>
            <a:ext cx="68580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45820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assets/icon_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930" y="24117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82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pattern by category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098280" y="2578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forms its own diagonal band — total sales scale predictably with unit price and quantity.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458200" y="3703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assets/icon_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38290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8280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Confirms regression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9098280" y="39959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confirmation of Unit Price's strong, significant coefficient (p &lt; 0.001) from slide 5.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458200" y="5120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assets/icon_c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30" y="52463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8280" y="5102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opportunity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098280" y="541324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price scales directly to order value, bundling and price-tier strategies have direct AOV impact.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2A357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to translate statistical findings into AOV growth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2A357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4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097280" y="27889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assets/icon_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2943225"/>
            <a:ext cx="377190" cy="3771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Bundling &amp; Volume Discounts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product bundles and volume-based discount tiers to increase average order value, leveraging the strong price-to-sales relationship.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2A357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4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4754880" y="27889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1" descr="assets/icon_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294322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A/B Tests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54880" y="44348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bundling configurations and upsell experiences against a control group to quantify lift in order value before full rollout.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38160" y="18288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2A3578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12480" y="2057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4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8412480" y="27889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2" descr="assets/icon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85" y="294322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High-Value Orders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12480" y="44348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profiles around the high-value tail identified in the sales distribution, and design targeted retention programs around them.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Files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artifacts produced as part of this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icon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305" y="23031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Results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analysis/stat_results.json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output from all hypothesis tests and the regression model.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assets/icon_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230314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 Script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438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analysis/hypothesis_test.py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62940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source for t-test, ANOVA, chi-square, and OLS analyses.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" y="40690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14300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assets/icon_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05" y="454342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Figures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05740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presentation/figures/*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4300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category, and scatter plots used throughout this deck.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40690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43891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assets/icon_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705" y="4543425"/>
            <a:ext cx="377190" cy="37719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Report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54380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report/Data_Story_Stat_Validation_Report.md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62940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written narrative connecting findings to business recommendations.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 |  Data Storytelling &amp; Statistical Validation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599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Storytelling &amp; Statistical Validation</dc:title>
  <dc:subject>PptxGenJS Presentation</dc:subject>
  <dc:creator>ApexPlanet</dc:creator>
  <cp:lastModifiedBy>ApexPlanet</cp:lastModifiedBy>
  <cp:revision>1</cp:revision>
  <dcterms:created xsi:type="dcterms:W3CDTF">2026-06-13T13:39:46Z</dcterms:created>
  <dcterms:modified xsi:type="dcterms:W3CDTF">2026-06-13T13:39:46Z</dcterms:modified>
</cp:coreProperties>
</file>